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1294e8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200" strike="noStrike" u="none">
                    <a:solidFill>
                      <a:srgbClr val="172033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0"/>
                <c:pt idx="0">
                  <c:v>ICC Cricket World Cup 2011</c:v>
                </c:pt>
                <c:pt idx="1">
                  <c:v>Live Events</c:v>
                </c:pt>
                <c:pt idx="2">
                  <c:v>Channel O</c:v>
                </c:pt>
                <c:pt idx="3">
                  <c:v>Trace TV</c:v>
                </c:pt>
                <c:pt idx="4">
                  <c:v>SuperSport Blitz</c:v>
                </c:pt>
                <c:pt idx="5">
                  <c:v>Boomerang</c:v>
                </c:pt>
                <c:pt idx="6">
                  <c:v>Cartoon Network</c:v>
                </c:pt>
                <c:pt idx="7">
                  <c:v>CNN</c:v>
                </c:pt>
                <c:pt idx="8">
                  <c:v>Africa Magic</c:v>
                </c:pt>
                <c:pt idx="9">
                  <c:v>E! Entertainment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0"/>
                <c:pt idx="0">
                  <c:v>412</c:v>
                </c:pt>
                <c:pt idx="1">
                  <c:v>318</c:v>
                </c:pt>
                <c:pt idx="2">
                  <c:v>193</c:v>
                </c:pt>
                <c:pt idx="3">
                  <c:v>192</c:v>
                </c:pt>
                <c:pt idx="4">
                  <c:v>91</c:v>
                </c:pt>
                <c:pt idx="5">
                  <c:v>73</c:v>
                </c:pt>
                <c:pt idx="6">
                  <c:v>70</c:v>
                </c:pt>
                <c:pt idx="7">
                  <c:v>68</c:v>
                </c:pt>
                <c:pt idx="8">
                  <c:v>49</c:v>
                </c:pt>
                <c:pt idx="9">
                  <c:v>37</c:v>
                </c:pt>
              </c:numCache>
            </c:numRef>
          </c:val>
        </c:ser>
        <c:gapWidth val="150"/>
        <c:overlap val="0"/>
        <c:axId val="70505675"/>
        <c:axId val="35648380"/>
      </c:barChart>
      <c:catAx>
        <c:axId val="7050567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900" strike="noStrike" u="none">
                <a:solidFill>
                  <a:srgbClr val="64748b"/>
                </a:solidFill>
                <a:uFillTx/>
                <a:latin typeface="Aptos"/>
              </a:defRPr>
            </a:pPr>
          </a:p>
        </c:txPr>
        <c:crossAx val="35648380"/>
        <c:crosses val="autoZero"/>
        <c:auto val="1"/>
        <c:lblAlgn val="ctr"/>
        <c:lblOffset val="100"/>
        <c:noMultiLvlLbl val="0"/>
      </c:catAx>
      <c:valAx>
        <c:axId val="35648380"/>
        <c:scaling>
          <c:orientation val="minMax"/>
          <c:max val="450"/>
          <c:min val="0"/>
        </c:scaling>
        <c:delete val="0"/>
        <c:axPos val="l"/>
        <c:majorGridlines>
          <c:spPr>
            <a:ln w="12600">
              <a:solidFill>
                <a:srgbClr val="dde5ea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800" strike="noStrike" u="none">
                <a:solidFill>
                  <a:srgbClr val="64748b"/>
                </a:solidFill>
                <a:uFillTx/>
                <a:latin typeface="Aptos"/>
              </a:defRPr>
            </a:pPr>
          </a:p>
        </c:txPr>
        <c:crossAx val="70505675"/>
        <c:crosses val="autoZero"/>
        <c:crossBetween val="between"/>
        <c:majorUnit val="100"/>
      </c:valAx>
      <c:spPr>
        <a:solidFill>
          <a:srgbClr val="ffffff"/>
        </a:solidFill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720078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4"/>
                <c:pt idx="0">
                  <c:v>27</c:v>
                </c:pt>
                <c:pt idx="1">
                  <c:v>12</c:v>
                </c:pt>
                <c:pt idx="2">
                  <c:v>22</c:v>
                </c:pt>
                <c:pt idx="3">
                  <c:v>10</c:v>
                </c:pt>
                <c:pt idx="4">
                  <c:v>8</c:v>
                </c:pt>
                <c:pt idx="5">
                  <c:v>10</c:v>
                </c:pt>
                <c:pt idx="6">
                  <c:v>23</c:v>
                </c:pt>
                <c:pt idx="7">
                  <c:v>35</c:v>
                </c:pt>
                <c:pt idx="8">
                  <c:v>48</c:v>
                </c:pt>
                <c:pt idx="9">
                  <c:v>50</c:v>
                </c:pt>
                <c:pt idx="10">
                  <c:v>79</c:v>
                </c:pt>
                <c:pt idx="11">
                  <c:v>90</c:v>
                </c:pt>
                <c:pt idx="12">
                  <c:v>112</c:v>
                </c:pt>
                <c:pt idx="13">
                  <c:v>97</c:v>
                </c:pt>
                <c:pt idx="14">
                  <c:v>118</c:v>
                </c:pt>
                <c:pt idx="15">
                  <c:v>104</c:v>
                </c:pt>
                <c:pt idx="16">
                  <c:v>118</c:v>
                </c:pt>
                <c:pt idx="17">
                  <c:v>127</c:v>
                </c:pt>
                <c:pt idx="18">
                  <c:v>98</c:v>
                </c:pt>
                <c:pt idx="19">
                  <c:v>84</c:v>
                </c:pt>
                <c:pt idx="20">
                  <c:v>75</c:v>
                </c:pt>
                <c:pt idx="21">
                  <c:v>68</c:v>
                </c:pt>
                <c:pt idx="22">
                  <c:v>65</c:v>
                </c:pt>
                <c:pt idx="23">
                  <c:v>55</c:v>
                </c:pt>
              </c:numCache>
            </c:numRef>
          </c:val>
        </c:ser>
        <c:gapWidth val="150"/>
        <c:overlap val="0"/>
        <c:axId val="85019170"/>
        <c:axId val="89909390"/>
      </c:barChart>
      <c:catAx>
        <c:axId val="8501917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900" strike="noStrike" u="none">
                <a:solidFill>
                  <a:srgbClr val="64748b"/>
                </a:solidFill>
                <a:uFillTx/>
                <a:latin typeface="Aptos"/>
              </a:defRPr>
            </a:pPr>
          </a:p>
        </c:txPr>
        <c:crossAx val="89909390"/>
        <c:crosses val="autoZero"/>
        <c:auto val="1"/>
        <c:lblAlgn val="ctr"/>
        <c:lblOffset val="100"/>
        <c:noMultiLvlLbl val="0"/>
      </c:catAx>
      <c:valAx>
        <c:axId val="89909390"/>
        <c:scaling>
          <c:orientation val="minMax"/>
          <c:max val="140"/>
        </c:scaling>
        <c:delete val="0"/>
        <c:axPos val="l"/>
        <c:majorGridlines>
          <c:spPr>
            <a:ln w="12600">
              <a:solidFill>
                <a:srgbClr val="dde5ea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800" strike="noStrike" u="none">
                <a:solidFill>
                  <a:srgbClr val="64748b"/>
                </a:solidFill>
                <a:uFillTx/>
                <a:latin typeface="Aptos"/>
              </a:defRPr>
            </a:pPr>
          </a:p>
        </c:txPr>
        <c:crossAx val="85019170"/>
        <c:crosses val="autoZero"/>
        <c:crossBetween val="between"/>
        <c:majorUnit val="20"/>
      </c:valAx>
      <c:spPr>
        <a:solidFill>
          <a:srgbClr val="ffffff"/>
        </a:solidFill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ef6a32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200" strike="noStrike" u="none">
                    <a:solidFill>
                      <a:srgbClr val="172033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115</c:v>
                </c:pt>
                <c:pt idx="1">
                  <c:v>199</c:v>
                </c:pt>
                <c:pt idx="2">
                  <c:v>234</c:v>
                </c:pt>
                <c:pt idx="3">
                  <c:v>232</c:v>
                </c:pt>
                <c:pt idx="4">
                  <c:v>252</c:v>
                </c:pt>
                <c:pt idx="5">
                  <c:v>296</c:v>
                </c:pt>
                <c:pt idx="6">
                  <c:v>195</c:v>
                </c:pt>
              </c:numCache>
            </c:numRef>
          </c:val>
        </c:ser>
        <c:gapWidth val="150"/>
        <c:overlap val="0"/>
        <c:axId val="89648146"/>
        <c:axId val="12453524"/>
      </c:barChart>
      <c:catAx>
        <c:axId val="8964814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900" strike="noStrike" u="none">
                <a:solidFill>
                  <a:srgbClr val="64748b"/>
                </a:solidFill>
                <a:uFillTx/>
                <a:latin typeface="Aptos"/>
              </a:defRPr>
            </a:pPr>
          </a:p>
        </c:txPr>
        <c:crossAx val="12453524"/>
        <c:crosses val="autoZero"/>
        <c:auto val="1"/>
        <c:lblAlgn val="ctr"/>
        <c:lblOffset val="100"/>
        <c:noMultiLvlLbl val="0"/>
      </c:catAx>
      <c:valAx>
        <c:axId val="12453524"/>
        <c:scaling>
          <c:orientation val="minMax"/>
          <c:max val="330"/>
        </c:scaling>
        <c:delete val="0"/>
        <c:axPos val="l"/>
        <c:majorGridlines>
          <c:spPr>
            <a:ln w="12600">
              <a:solidFill>
                <a:srgbClr val="dde5ea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800" strike="noStrike" u="none">
                <a:solidFill>
                  <a:srgbClr val="64748b"/>
                </a:solidFill>
                <a:uFillTx/>
                <a:latin typeface="Aptos"/>
              </a:defRPr>
            </a:pPr>
          </a:p>
        </c:txPr>
        <c:crossAx val="89648146"/>
        <c:crosses val="autoZero"/>
        <c:crossBetween val="between"/>
        <c:majorUnit val="50"/>
      </c:valAx>
      <c:spPr>
        <a:solidFill>
          <a:srgbClr val="ffffff"/>
        </a:solidFill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162d7a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200" strike="noStrike" u="none">
                    <a:solidFill>
                      <a:srgbClr val="172033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0"/>
                <c:pt idx="0">
                  <c:v>Gauteng</c:v>
                </c:pt>
                <c:pt idx="1">
                  <c:v>Western Cape</c:v>
                </c:pt>
                <c:pt idx="2">
                  <c:v>KwaZulu-Natal</c:v>
                </c:pt>
                <c:pt idx="3">
                  <c:v>Mpumalanga</c:v>
                </c:pt>
                <c:pt idx="4">
                  <c:v>Eastern Cape</c:v>
                </c:pt>
                <c:pt idx="5">
                  <c:v>Limpopo</c:v>
                </c:pt>
                <c:pt idx="6">
                  <c:v>Free State</c:v>
                </c:pt>
                <c:pt idx="7">
                  <c:v>North West</c:v>
                </c:pt>
                <c:pt idx="8">
                  <c:v>Unclassified</c:v>
                </c:pt>
                <c:pt idx="9">
                  <c:v>Northern Cape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0"/>
                <c:pt idx="0">
                  <c:v>554</c:v>
                </c:pt>
                <c:pt idx="1">
                  <c:v>300</c:v>
                </c:pt>
                <c:pt idx="2">
                  <c:v>158</c:v>
                </c:pt>
                <c:pt idx="3">
                  <c:v>131</c:v>
                </c:pt>
                <c:pt idx="4">
                  <c:v>116</c:v>
                </c:pt>
                <c:pt idx="5">
                  <c:v>105</c:v>
                </c:pt>
                <c:pt idx="6">
                  <c:v>52</c:v>
                </c:pt>
                <c:pt idx="7">
                  <c:v>43</c:v>
                </c:pt>
                <c:pt idx="8">
                  <c:v>36</c:v>
                </c:pt>
                <c:pt idx="9">
                  <c:v>28</c:v>
                </c:pt>
              </c:numCache>
            </c:numRef>
          </c:val>
        </c:ser>
        <c:gapWidth val="150"/>
        <c:overlap val="0"/>
        <c:axId val="65182380"/>
        <c:axId val="83969993"/>
      </c:barChart>
      <c:catAx>
        <c:axId val="6518238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900" strike="noStrike" u="none">
                <a:solidFill>
                  <a:srgbClr val="64748b"/>
                </a:solidFill>
                <a:uFillTx/>
                <a:latin typeface="Aptos"/>
              </a:defRPr>
            </a:pPr>
          </a:p>
        </c:txPr>
        <c:crossAx val="83969993"/>
        <c:crosses val="autoZero"/>
        <c:auto val="1"/>
        <c:lblAlgn val="ctr"/>
        <c:lblOffset val="100"/>
        <c:noMultiLvlLbl val="0"/>
      </c:catAx>
      <c:valAx>
        <c:axId val="83969993"/>
        <c:scaling>
          <c:orientation val="minMax"/>
          <c:max val="600"/>
        </c:scaling>
        <c:delete val="0"/>
        <c:axPos val="l"/>
        <c:majorGridlines>
          <c:spPr>
            <a:ln w="12600">
              <a:solidFill>
                <a:srgbClr val="dde5ea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800" strike="noStrike" u="none">
                <a:solidFill>
                  <a:srgbClr val="64748b"/>
                </a:solidFill>
                <a:uFillTx/>
                <a:latin typeface="Aptos"/>
              </a:defRPr>
            </a:pPr>
          </a:p>
        </c:txPr>
        <c:crossAx val="65182380"/>
        <c:crosses val="autoZero"/>
        <c:crossBetween val="between"/>
        <c:majorUnit val="100"/>
      </c:valAx>
      <c:spPr>
        <a:solidFill>
          <a:srgbClr val="ffffff"/>
        </a:solidFill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Minutes</c:v>
                </c:pt>
              </c:strCache>
            </c:strRef>
          </c:tx>
          <c:spPr>
            <a:solidFill>
              <a:srgbClr val="ef6a32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200" strike="noStrike" u="none">
                    <a:solidFill>
                      <a:srgbClr val="172033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Kids</c:v>
                </c:pt>
                <c:pt idx="1">
                  <c:v>Adults</c:v>
                </c:pt>
                <c:pt idx="2">
                  <c:v>Young adults</c:v>
                </c:pt>
                <c:pt idx="3">
                  <c:v>Infant</c:v>
                </c:pt>
                <c:pt idx="4">
                  <c:v>Elder</c:v>
                </c:pt>
                <c:pt idx="5">
                  <c:v>Pensioner</c:v>
                </c:pt>
                <c:pt idx="6">
                  <c:v>Youth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12.8</c:v>
                </c:pt>
                <c:pt idx="1">
                  <c:v>9.7</c:v>
                </c:pt>
                <c:pt idx="2">
                  <c:v>9.1</c:v>
                </c:pt>
                <c:pt idx="3">
                  <c:v>8.4</c:v>
                </c:pt>
                <c:pt idx="4">
                  <c:v>7.6</c:v>
                </c:pt>
                <c:pt idx="5">
                  <c:v>7.2</c:v>
                </c:pt>
                <c:pt idx="6">
                  <c:v>5.6</c:v>
                </c:pt>
              </c:numCache>
            </c:numRef>
          </c:val>
        </c:ser>
        <c:gapWidth val="150"/>
        <c:overlap val="0"/>
        <c:axId val="67011347"/>
        <c:axId val="22961270"/>
      </c:barChart>
      <c:catAx>
        <c:axId val="6701134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900" strike="noStrike" u="none">
                <a:solidFill>
                  <a:srgbClr val="64748b"/>
                </a:solidFill>
                <a:uFillTx/>
                <a:latin typeface="Aptos"/>
              </a:defRPr>
            </a:pPr>
          </a:p>
        </c:txPr>
        <c:crossAx val="22961270"/>
        <c:crosses val="autoZero"/>
        <c:auto val="1"/>
        <c:lblAlgn val="ctr"/>
        <c:lblOffset val="100"/>
        <c:noMultiLvlLbl val="0"/>
      </c:catAx>
      <c:valAx>
        <c:axId val="22961270"/>
        <c:scaling>
          <c:orientation val="minMax"/>
          <c:max val="14"/>
        </c:scaling>
        <c:delete val="0"/>
        <c:axPos val="l"/>
        <c:majorGridlines>
          <c:spPr>
            <a:ln w="12600">
              <a:solidFill>
                <a:srgbClr val="dde5ea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800" strike="noStrike" u="none">
                <a:solidFill>
                  <a:srgbClr val="64748b"/>
                </a:solidFill>
                <a:uFillTx/>
                <a:latin typeface="Aptos"/>
              </a:defRPr>
            </a:pPr>
          </a:p>
        </c:txPr>
        <c:crossAx val="67011347"/>
        <c:crosses val="autoZero"/>
        <c:crossBetween val="between"/>
        <c:majorUnit val="2"/>
      </c:valAx>
      <c:spPr>
        <a:solidFill>
          <a:srgbClr val="ffffff"/>
        </a:solidFill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explosion val="0"/>
          <c:dPt>
            <c:idx val="0"/>
            <c:spPr>
              <a:solidFill>
                <a:srgbClr val="720078"/>
              </a:solidFill>
              <a:ln w="0">
                <a:noFill/>
              </a:ln>
            </c:spPr>
          </c:dPt>
          <c:dPt>
            <c:idx val="1"/>
            <c:spPr>
              <a:solidFill>
                <a:srgbClr val="1294e8"/>
              </a:solidFill>
              <a:ln w="0">
                <a:noFill/>
              </a:ln>
            </c:spPr>
          </c:dPt>
          <c:dPt>
            <c:idx val="2"/>
            <c:spPr>
              <a:solidFill>
                <a:srgbClr val="162d7a"/>
              </a:solidFill>
              <a:ln w="0">
                <a:noFill/>
              </a:ln>
            </c:spPr>
          </c:dPt>
          <c:dPt>
            <c:idx val="3"/>
            <c:spPr>
              <a:solidFill>
                <a:srgbClr val="ef6a32"/>
              </a:solidFill>
              <a:ln w="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0" sz="1200" strike="noStrike" u="non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b="0" sz="1200" strike="noStrike" u="non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b="0" sz="1200" strike="noStrike" u="non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3"/>
              <c:numFmt formatCode="0%" sourceLinked="0"/>
              <c:txPr>
                <a:bodyPr wrap="square"/>
                <a:lstStyle/>
                <a:p>
                  <a:pPr>
                    <a:defRPr b="0" sz="1200" strike="noStrike" u="non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txPr>
              <a:bodyPr wrap="square"/>
              <a:lstStyle/>
              <a:p>
                <a:pPr>
                  <a:defRPr b="0" sz="18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eparator>
</c:separator>
            <c:showLeaderLines val="0"/>
          </c:dLbls>
          <c:cat>
            <c:strRef>
              <c:f>categories</c:f>
              <c:strCache>
                <c:ptCount val="4"/>
                <c:pt idx="0">
                  <c:v>No usage</c:v>
                </c:pt>
                <c:pt idx="1">
                  <c:v>Low usage (&lt;30 min)</c:v>
                </c:pt>
                <c:pt idx="2">
                  <c:v>Medium usage (&lt;60 min)</c:v>
                </c:pt>
                <c:pt idx="3">
                  <c:v>High usage (&gt;60 min)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69.2</c:v>
                </c:pt>
                <c:pt idx="1">
                  <c:v>23.3</c:v>
                </c:pt>
                <c:pt idx="2">
                  <c:v>3.3</c:v>
                </c:pt>
                <c:pt idx="3">
                  <c:v>3.3</c:v>
                </c:pt>
              </c:numCache>
            </c:numRef>
          </c:val>
        </c:ser>
        <c:firstSliceAng val="0"/>
        <c:holeSize val="50"/>
      </c:doughnutChart>
      <c:spPr>
        <a:solidFill>
          <a:srgbClr val="f3f6f8"/>
        </a:solidFill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900" strike="noStrike" u="none">
              <a:solidFill>
                <a:srgbClr val="000000"/>
              </a:solidFill>
              <a:uFillTx/>
              <a:latin typeface="Aptos"/>
            </a:defRPr>
          </a:pPr>
        </a:p>
      </c:txPr>
    </c:legend>
    <c:plotVisOnly val="1"/>
    <c:dispBlanksAs val="span"/>
  </c:chart>
  <c:spPr>
    <a:solidFill>
      <a:srgbClr val="f3f6f8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65239E5-7BF5-4BBE-95E5-B4149AA25C4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32C35E-6196-4C46-81E6-FC046A36C1C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EF315D-39AE-4850-A4EB-0774D321223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592738-9980-4356-89E5-5B7959C220B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ADDDE9-AEEB-4F84-A549-CBFB36F80B9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7718B0-E5B0-4AF6-8C7E-A674785FBDF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6E179A-2191-4124-829F-ECA01A6F17A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4F5689-4D37-43E8-B36F-FA1A99B6580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chart" Target="..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1294e8"/>
          </a:solidFill>
          <a:ln w="12700">
            <a:solidFill>
              <a:srgbClr val="1294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 rot="1020000">
            <a:off x="7543440" y="-868680"/>
            <a:ext cx="5668920" cy="5668920"/>
          </a:xfrm>
          <a:prstGeom prst="ellipse">
            <a:avLst/>
          </a:prstGeom>
          <a:solidFill>
            <a:srgbClr val="162d7a">
              <a:alpha val="82000"/>
            </a:srgbClr>
          </a:solidFill>
          <a:ln w="12700">
            <a:solidFill>
              <a:srgbClr val="162d7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 rot="12480000">
            <a:off x="8412840" y="137160"/>
            <a:ext cx="4754520" cy="4754520"/>
          </a:xfrm>
          <a:prstGeom prst="ellipse">
            <a:avLst/>
          </a:prstGeom>
          <a:solidFill>
            <a:srgbClr val="720078">
              <a:alpha val="82000"/>
            </a:srgbClr>
          </a:solidFill>
          <a:ln w="12700">
            <a:solidFill>
              <a:srgbClr val="72007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85800" y="56700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49" strike="noStrike" u="none">
                <a:solidFill>
                  <a:srgbClr val="8fd3ff"/>
                </a:solidFill>
                <a:effectLst/>
                <a:uFillTx/>
                <a:latin typeface="Aptos"/>
              </a:rPr>
              <a:t>BRIGHT TV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85800" y="1463040"/>
            <a:ext cx="69490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Bright TV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Viewership Analysis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13160" y="3310200"/>
            <a:ext cx="5394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c6d0de"/>
                </a:solidFill>
                <a:effectLst/>
                <a:uFillTx/>
                <a:latin typeface="Aptos"/>
              </a:rPr>
              <a:t>Audience, channel and consumption patterns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713160" y="3886200"/>
            <a:ext cx="960120" cy="360"/>
          </a:xfrm>
          <a:prstGeom prst="line">
            <a:avLst/>
          </a:prstGeom>
          <a:ln w="63500">
            <a:solidFill>
              <a:srgbClr val="ef6a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713160" y="416052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70" strike="noStrike" u="none">
                <a:solidFill>
                  <a:srgbClr val="8a9ab0"/>
                </a:solidFill>
                <a:effectLst/>
                <a:uFillTx/>
                <a:latin typeface="Aptos"/>
              </a:rPr>
              <a:t>EXECUTIVE ANALYSIS  /  JAN–APR 2016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13160" y="6144840"/>
            <a:ext cx="2925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a9ab0"/>
                </a:solidFill>
                <a:effectLst/>
                <a:uFillTx/>
                <a:latin typeface="Aptos"/>
              </a:rPr>
              <a:t>Prepared for decision-makers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11064240" y="6144840"/>
            <a:ext cx="594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8a9ab0"/>
                </a:solidFill>
                <a:effectLst/>
                <a:uFillTx/>
                <a:latin typeface="Aptos"/>
              </a:rPr>
              <a:t>01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502920" y="255960"/>
            <a:ext cx="4023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59" strike="noStrike" u="none">
                <a:solidFill>
                  <a:srgbClr val="1294e8"/>
                </a:solidFill>
                <a:effectLst/>
                <a:uFillTx/>
                <a:latin typeface="Aptos"/>
                <a:ea typeface="Aptos"/>
              </a:rPr>
              <a:t>EXECUTIVE PULSE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502920" y="53028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72033"/>
                </a:solidFill>
                <a:effectLst/>
                <a:uFillTx/>
                <a:latin typeface="Aptos Display"/>
                <a:ea typeface="Aptos Display"/>
              </a:rPr>
              <a:t>The audience is broad — but viewing is highly concentrated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11064240" y="365760"/>
            <a:ext cx="594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02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3"/>
          <p:cNvSpPr/>
          <p:nvPr/>
        </p:nvSpPr>
        <p:spPr>
          <a:xfrm>
            <a:off x="502920" y="1124640"/>
            <a:ext cx="11173680" cy="360"/>
          </a:xfrm>
          <a:prstGeom prst="line">
            <a:avLst/>
          </a:prstGeom>
          <a:ln w="12700">
            <a:solidFill>
              <a:srgbClr val="dde5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4"/>
          <p:cNvSpPr/>
          <p:nvPr/>
        </p:nvSpPr>
        <p:spPr>
          <a:xfrm>
            <a:off x="502920" y="1417320"/>
            <a:ext cx="2057040" cy="9140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502920" y="1417320"/>
            <a:ext cx="63720" cy="914040"/>
          </a:xfrm>
          <a:prstGeom prst="rect">
            <a:avLst/>
          </a:prstGeom>
          <a:solidFill>
            <a:srgbClr val="1294e8"/>
          </a:solidFill>
          <a:ln w="12700">
            <a:solidFill>
              <a:srgbClr val="1294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704160" y="155448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1294e8"/>
                </a:solidFill>
                <a:effectLst/>
                <a:uFillTx/>
                <a:latin typeface="Aptos"/>
              </a:rPr>
              <a:t>10,000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7"/>
          <p:cNvSpPr/>
          <p:nvPr/>
        </p:nvSpPr>
        <p:spPr>
          <a:xfrm>
            <a:off x="704160" y="1984320"/>
            <a:ext cx="1737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Viewing records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8"/>
          <p:cNvSpPr/>
          <p:nvPr/>
        </p:nvSpPr>
        <p:spPr>
          <a:xfrm>
            <a:off x="2770560" y="1417320"/>
            <a:ext cx="2057040" cy="9140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9"/>
          <p:cNvSpPr/>
          <p:nvPr/>
        </p:nvSpPr>
        <p:spPr>
          <a:xfrm>
            <a:off x="2770560" y="1417320"/>
            <a:ext cx="63720" cy="914040"/>
          </a:xfrm>
          <a:prstGeom prst="rect">
            <a:avLst/>
          </a:prstGeom>
          <a:solidFill>
            <a:srgbClr val="162d7a"/>
          </a:solidFill>
          <a:ln w="12700">
            <a:solidFill>
              <a:srgbClr val="162d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2971800" y="155448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162d7a"/>
                </a:solidFill>
                <a:effectLst/>
                <a:uFillTx/>
                <a:latin typeface="Aptos"/>
              </a:rPr>
              <a:t>4,386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2971800" y="1984320"/>
            <a:ext cx="1737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Unique viewers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2"/>
          <p:cNvSpPr/>
          <p:nvPr/>
        </p:nvSpPr>
        <p:spPr>
          <a:xfrm>
            <a:off x="5038200" y="1417320"/>
            <a:ext cx="2057040" cy="9140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3"/>
          <p:cNvSpPr/>
          <p:nvPr/>
        </p:nvSpPr>
        <p:spPr>
          <a:xfrm>
            <a:off x="5038200" y="1417320"/>
            <a:ext cx="63720" cy="914040"/>
          </a:xfrm>
          <a:prstGeom prst="rect">
            <a:avLst/>
          </a:prstGeom>
          <a:solidFill>
            <a:srgbClr val="138f8e"/>
          </a:solidFill>
          <a:ln w="12700">
            <a:solidFill>
              <a:srgbClr val="138f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5239440" y="155448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138f8e"/>
                </a:solidFill>
                <a:effectLst/>
                <a:uFillTx/>
                <a:latin typeface="Aptos"/>
              </a:rPr>
              <a:t>1,523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5"/>
          <p:cNvSpPr/>
          <p:nvPr/>
        </p:nvSpPr>
        <p:spPr>
          <a:xfrm>
            <a:off x="5239440" y="1984320"/>
            <a:ext cx="1737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Watch hours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6"/>
          <p:cNvSpPr/>
          <p:nvPr/>
        </p:nvSpPr>
        <p:spPr>
          <a:xfrm>
            <a:off x="7306200" y="1417320"/>
            <a:ext cx="2057040" cy="9140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7"/>
          <p:cNvSpPr/>
          <p:nvPr/>
        </p:nvSpPr>
        <p:spPr>
          <a:xfrm>
            <a:off x="7306200" y="1417320"/>
            <a:ext cx="63720" cy="914040"/>
          </a:xfrm>
          <a:prstGeom prst="rect">
            <a:avLst/>
          </a:prstGeom>
          <a:solidFill>
            <a:srgbClr val="ef6a32"/>
          </a:solidFill>
          <a:ln w="12700">
            <a:solidFill>
              <a:srgbClr val="ef6a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8"/>
          <p:cNvSpPr/>
          <p:nvPr/>
        </p:nvSpPr>
        <p:spPr>
          <a:xfrm>
            <a:off x="7507080" y="155448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ef6a32"/>
                </a:solidFill>
                <a:effectLst/>
                <a:uFillTx/>
                <a:latin typeface="Aptos"/>
              </a:rPr>
              <a:t>9.1 min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9"/>
          <p:cNvSpPr/>
          <p:nvPr/>
        </p:nvSpPr>
        <p:spPr>
          <a:xfrm>
            <a:off x="7507080" y="1984320"/>
            <a:ext cx="1737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Average session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0"/>
          <p:cNvSpPr/>
          <p:nvPr/>
        </p:nvSpPr>
        <p:spPr>
          <a:xfrm>
            <a:off x="9573840" y="1417320"/>
            <a:ext cx="2057040" cy="9140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1"/>
          <p:cNvSpPr/>
          <p:nvPr/>
        </p:nvSpPr>
        <p:spPr>
          <a:xfrm>
            <a:off x="9573840" y="1417320"/>
            <a:ext cx="63720" cy="914040"/>
          </a:xfrm>
          <a:prstGeom prst="rect">
            <a:avLst/>
          </a:prstGeom>
          <a:solidFill>
            <a:srgbClr val="720078"/>
          </a:solidFill>
          <a:ln w="12700">
            <a:solidFill>
              <a:srgbClr val="7200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2"/>
          <p:cNvSpPr/>
          <p:nvPr/>
        </p:nvSpPr>
        <p:spPr>
          <a:xfrm>
            <a:off x="9775080" y="155448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720078"/>
                </a:solidFill>
                <a:effectLst/>
                <a:uFillTx/>
                <a:latin typeface="Aptos"/>
              </a:rPr>
              <a:t>17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3"/>
          <p:cNvSpPr/>
          <p:nvPr/>
        </p:nvSpPr>
        <p:spPr>
          <a:xfrm>
            <a:off x="9775080" y="1984320"/>
            <a:ext cx="1737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Channels tracked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4"/>
          <p:cNvSpPr/>
          <p:nvPr/>
        </p:nvSpPr>
        <p:spPr>
          <a:xfrm>
            <a:off x="502920" y="2761560"/>
            <a:ext cx="3611520" cy="260568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5"/>
          <p:cNvSpPr/>
          <p:nvPr/>
        </p:nvSpPr>
        <p:spPr>
          <a:xfrm>
            <a:off x="685800" y="2926080"/>
            <a:ext cx="50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294e8"/>
                </a:solidFill>
                <a:effectLst/>
                <a:uFillTx/>
                <a:latin typeface="Aptos"/>
              </a:rPr>
              <a:t>01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6"/>
          <p:cNvSpPr/>
          <p:nvPr/>
        </p:nvSpPr>
        <p:spPr>
          <a:xfrm>
            <a:off x="1271160" y="294444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Cricket leads depth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7"/>
          <p:cNvSpPr/>
          <p:nvPr/>
        </p:nvSpPr>
        <p:spPr>
          <a:xfrm>
            <a:off x="1271160" y="3291840"/>
            <a:ext cx="2624040" cy="19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ICC Cricket World Cup 2011 generated 412 hours and the longest leading-channel session average at 16.9 minutes.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8"/>
          <p:cNvSpPr/>
          <p:nvPr/>
        </p:nvSpPr>
        <p:spPr>
          <a:xfrm>
            <a:off x="4288680" y="2761560"/>
            <a:ext cx="3611520" cy="260568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9"/>
          <p:cNvSpPr/>
          <p:nvPr/>
        </p:nvSpPr>
        <p:spPr>
          <a:xfrm>
            <a:off x="4471560" y="2926080"/>
            <a:ext cx="50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38f8e"/>
                </a:solidFill>
                <a:effectLst/>
                <a:uFillTx/>
                <a:latin typeface="Aptos"/>
              </a:rPr>
              <a:t>02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0"/>
          <p:cNvSpPr/>
          <p:nvPr/>
        </p:nvSpPr>
        <p:spPr>
          <a:xfrm>
            <a:off x="5056560" y="294444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Gauteng anchors demand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1"/>
          <p:cNvSpPr/>
          <p:nvPr/>
        </p:nvSpPr>
        <p:spPr>
          <a:xfrm>
            <a:off x="5056560" y="3291840"/>
            <a:ext cx="2624040" cy="19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Gauteng contributed 554 hours — more than one-third of all viewing time.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32"/>
          <p:cNvSpPr/>
          <p:nvPr/>
        </p:nvSpPr>
        <p:spPr>
          <a:xfrm>
            <a:off x="8074080" y="2761560"/>
            <a:ext cx="3611520" cy="260568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3"/>
          <p:cNvSpPr/>
          <p:nvPr/>
        </p:nvSpPr>
        <p:spPr>
          <a:xfrm>
            <a:off x="8256960" y="2926080"/>
            <a:ext cx="50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ef6a32"/>
                </a:solidFill>
                <a:effectLst/>
                <a:uFillTx/>
                <a:latin typeface="Aptos"/>
              </a:rPr>
              <a:t>03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4"/>
          <p:cNvSpPr/>
          <p:nvPr/>
        </p:nvSpPr>
        <p:spPr>
          <a:xfrm>
            <a:off x="8842320" y="294444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Inactivity is the core risk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5"/>
          <p:cNvSpPr/>
          <p:nvPr/>
        </p:nvSpPr>
        <p:spPr>
          <a:xfrm>
            <a:off x="8842320" y="3291840"/>
            <a:ext cx="2624040" cy="19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69.2% of sessions recorded no usage, limiting conversion from reach into sustained viewing.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6"/>
          <p:cNvSpPr/>
          <p:nvPr/>
        </p:nvSpPr>
        <p:spPr>
          <a:xfrm>
            <a:off x="502920" y="5696640"/>
            <a:ext cx="1234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119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CORE TAKEAWAY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7"/>
          <p:cNvSpPr/>
          <p:nvPr/>
        </p:nvSpPr>
        <p:spPr>
          <a:xfrm>
            <a:off x="1737360" y="5632560"/>
            <a:ext cx="9052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Protect event-led peaks while building repeat viewing around the afternoon-to-evening window.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8"/>
          <p:cNvSpPr/>
          <p:nvPr/>
        </p:nvSpPr>
        <p:spPr>
          <a:xfrm>
            <a:off x="502920" y="6519600"/>
            <a:ext cx="78634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Source: Bright TV viewership dashboard  |  10,000 records  |  Jan–Apr 2016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9"/>
          <p:cNvSpPr/>
          <p:nvPr/>
        </p:nvSpPr>
        <p:spPr>
          <a:xfrm>
            <a:off x="10588680" y="6492240"/>
            <a:ext cx="1096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19" strike="noStrike" u="none">
                <a:solidFill>
                  <a:srgbClr val="1294e8"/>
                </a:solidFill>
                <a:effectLst/>
                <a:uFillTx/>
                <a:latin typeface="Aptos"/>
              </a:rPr>
              <a:t>BRIGHT TV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502920" y="255960"/>
            <a:ext cx="4023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59" strike="noStrike" u="none">
                <a:solidFill>
                  <a:srgbClr val="1294e8"/>
                </a:solidFill>
                <a:effectLst/>
                <a:uFillTx/>
                <a:latin typeface="Aptos"/>
                <a:ea typeface="Aptos"/>
              </a:rPr>
              <a:t>CHANNEL PERFORMANCE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502920" y="53028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72033"/>
                </a:solidFill>
                <a:effectLst/>
                <a:uFillTx/>
                <a:latin typeface="Aptos Display"/>
                <a:ea typeface="Aptos Display"/>
              </a:rPr>
              <a:t>Sports and live programming command viewing time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11064240" y="365760"/>
            <a:ext cx="594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03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3"/>
          <p:cNvSpPr/>
          <p:nvPr/>
        </p:nvSpPr>
        <p:spPr>
          <a:xfrm>
            <a:off x="502920" y="1124640"/>
            <a:ext cx="11173680" cy="360"/>
          </a:xfrm>
          <a:prstGeom prst="line">
            <a:avLst/>
          </a:prstGeom>
          <a:ln w="12700">
            <a:solidFill>
              <a:srgbClr val="dde5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2" name="Chart 0"/>
          <p:cNvGraphicFramePr/>
          <p:nvPr/>
        </p:nvGraphicFramePr>
        <p:xfrm>
          <a:off x="502920" y="1417320"/>
          <a:ext cx="6994800" cy="452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3" name="Shape 4"/>
          <p:cNvSpPr/>
          <p:nvPr/>
        </p:nvSpPr>
        <p:spPr>
          <a:xfrm>
            <a:off x="7818120" y="1417320"/>
            <a:ext cx="1828440" cy="9140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5"/>
          <p:cNvSpPr/>
          <p:nvPr/>
        </p:nvSpPr>
        <p:spPr>
          <a:xfrm>
            <a:off x="7818120" y="1417320"/>
            <a:ext cx="63720" cy="914040"/>
          </a:xfrm>
          <a:prstGeom prst="rect">
            <a:avLst/>
          </a:prstGeom>
          <a:solidFill>
            <a:srgbClr val="ef6a32"/>
          </a:solidFill>
          <a:ln w="12700">
            <a:solidFill>
              <a:srgbClr val="ef6a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8019360" y="1554480"/>
            <a:ext cx="1508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ef6a32"/>
                </a:solidFill>
                <a:effectLst/>
                <a:uFillTx/>
                <a:latin typeface="Aptos"/>
              </a:rPr>
              <a:t>79.2%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7"/>
          <p:cNvSpPr/>
          <p:nvPr/>
        </p:nvSpPr>
        <p:spPr>
          <a:xfrm>
            <a:off x="8019360" y="1984320"/>
            <a:ext cx="1508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Top-5 share of hours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8"/>
          <p:cNvSpPr/>
          <p:nvPr/>
        </p:nvSpPr>
        <p:spPr>
          <a:xfrm>
            <a:off x="9857160" y="1417320"/>
            <a:ext cx="1828440" cy="9140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9"/>
          <p:cNvSpPr/>
          <p:nvPr/>
        </p:nvSpPr>
        <p:spPr>
          <a:xfrm>
            <a:off x="9857160" y="1417320"/>
            <a:ext cx="63720" cy="914040"/>
          </a:xfrm>
          <a:prstGeom prst="rect">
            <a:avLst/>
          </a:prstGeom>
          <a:solidFill>
            <a:srgbClr val="1294e8"/>
          </a:solidFill>
          <a:ln w="12700">
            <a:solidFill>
              <a:srgbClr val="1294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0"/>
          <p:cNvSpPr/>
          <p:nvPr/>
        </p:nvSpPr>
        <p:spPr>
          <a:xfrm>
            <a:off x="10058400" y="1554480"/>
            <a:ext cx="1508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1294e8"/>
                </a:solidFill>
                <a:effectLst/>
                <a:uFillTx/>
                <a:latin typeface="Aptos"/>
              </a:rPr>
              <a:t>16.9 min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1"/>
          <p:cNvSpPr/>
          <p:nvPr/>
        </p:nvSpPr>
        <p:spPr>
          <a:xfrm>
            <a:off x="10058400" y="1984320"/>
            <a:ext cx="1508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Cricket avg session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2"/>
          <p:cNvSpPr/>
          <p:nvPr/>
        </p:nvSpPr>
        <p:spPr>
          <a:xfrm>
            <a:off x="7818120" y="2606040"/>
            <a:ext cx="3867480" cy="123408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3"/>
          <p:cNvSpPr/>
          <p:nvPr/>
        </p:nvSpPr>
        <p:spPr>
          <a:xfrm>
            <a:off x="8001000" y="2770560"/>
            <a:ext cx="50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ef6a32"/>
                </a:solidFill>
                <a:effectLst/>
                <a:uFillTx/>
                <a:latin typeface="Aptos"/>
              </a:rPr>
              <a:t>A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4"/>
          <p:cNvSpPr/>
          <p:nvPr/>
        </p:nvSpPr>
        <p:spPr>
          <a:xfrm>
            <a:off x="8586360" y="2788920"/>
            <a:ext cx="2907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Events create scale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5"/>
          <p:cNvSpPr/>
          <p:nvPr/>
        </p:nvSpPr>
        <p:spPr>
          <a:xfrm>
            <a:off x="8586360" y="3136320"/>
            <a:ext cx="288000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Cricket and Live Events deliver 48% of all watch hours.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6"/>
          <p:cNvSpPr/>
          <p:nvPr/>
        </p:nvSpPr>
        <p:spPr>
          <a:xfrm>
            <a:off x="7818120" y="4041720"/>
            <a:ext cx="3867480" cy="123408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7"/>
          <p:cNvSpPr/>
          <p:nvPr/>
        </p:nvSpPr>
        <p:spPr>
          <a:xfrm>
            <a:off x="8001000" y="4206240"/>
            <a:ext cx="50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720078"/>
                </a:solidFill>
                <a:effectLst/>
                <a:uFillTx/>
                <a:latin typeface="Aptos"/>
              </a:rPr>
              <a:t>B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8"/>
          <p:cNvSpPr/>
          <p:nvPr/>
        </p:nvSpPr>
        <p:spPr>
          <a:xfrm>
            <a:off x="8586360" y="4224600"/>
            <a:ext cx="2907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Music sustains depth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9"/>
          <p:cNvSpPr/>
          <p:nvPr/>
        </p:nvSpPr>
        <p:spPr>
          <a:xfrm>
            <a:off x="8586360" y="4572000"/>
            <a:ext cx="288000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Trace TV and Channel O both exceed 11 minutes per session.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0"/>
          <p:cNvSpPr/>
          <p:nvPr/>
        </p:nvSpPr>
        <p:spPr>
          <a:xfrm>
            <a:off x="7818120" y="5532120"/>
            <a:ext cx="3867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Action: use live events as acquisition moments, then cross-promote music and entertainment for retention.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1"/>
          <p:cNvSpPr/>
          <p:nvPr/>
        </p:nvSpPr>
        <p:spPr>
          <a:xfrm>
            <a:off x="502920" y="6519600"/>
            <a:ext cx="78634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Source: Bright TV viewership dashboard  |  10,000 records  |  Jan–Apr 2016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2"/>
          <p:cNvSpPr/>
          <p:nvPr/>
        </p:nvSpPr>
        <p:spPr>
          <a:xfrm>
            <a:off x="10588680" y="6492240"/>
            <a:ext cx="1096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19" strike="noStrike" u="none">
                <a:solidFill>
                  <a:srgbClr val="1294e8"/>
                </a:solidFill>
                <a:effectLst/>
                <a:uFillTx/>
                <a:latin typeface="Aptos"/>
              </a:rPr>
              <a:t>BRIGHT TV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502920" y="255960"/>
            <a:ext cx="4023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59" strike="noStrike" u="none">
                <a:solidFill>
                  <a:srgbClr val="1294e8"/>
                </a:solidFill>
                <a:effectLst/>
                <a:uFillTx/>
                <a:latin typeface="Aptos"/>
                <a:ea typeface="Aptos"/>
              </a:rPr>
              <a:t>WHEN AUDIENCES WATCH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502920" y="53028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72033"/>
                </a:solidFill>
                <a:effectLst/>
                <a:uFillTx/>
                <a:latin typeface="Aptos Display"/>
                <a:ea typeface="Aptos Display"/>
              </a:rPr>
              <a:t>The strongest viewing window runs from lunch into early evening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11064240" y="365760"/>
            <a:ext cx="594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04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3"/>
          <p:cNvSpPr/>
          <p:nvPr/>
        </p:nvSpPr>
        <p:spPr>
          <a:xfrm>
            <a:off x="502920" y="1124640"/>
            <a:ext cx="11173680" cy="360"/>
          </a:xfrm>
          <a:prstGeom prst="line">
            <a:avLst/>
          </a:prstGeom>
          <a:ln w="12700">
            <a:solidFill>
              <a:srgbClr val="dde5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4"/>
          <p:cNvSpPr/>
          <p:nvPr/>
        </p:nvSpPr>
        <p:spPr>
          <a:xfrm>
            <a:off x="502920" y="1353240"/>
            <a:ext cx="2057040" cy="9140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5"/>
          <p:cNvSpPr/>
          <p:nvPr/>
        </p:nvSpPr>
        <p:spPr>
          <a:xfrm>
            <a:off x="502920" y="1353240"/>
            <a:ext cx="63720" cy="914040"/>
          </a:xfrm>
          <a:prstGeom prst="rect">
            <a:avLst/>
          </a:prstGeom>
          <a:solidFill>
            <a:srgbClr val="1294e8"/>
          </a:solidFill>
          <a:ln w="12700">
            <a:solidFill>
              <a:srgbClr val="1294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704160" y="149040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1294e8"/>
                </a:solidFill>
                <a:effectLst/>
                <a:uFillTx/>
                <a:latin typeface="Aptos"/>
              </a:rPr>
              <a:t>17:00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704160" y="1920240"/>
            <a:ext cx="1737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Peak hour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8"/>
          <p:cNvSpPr/>
          <p:nvPr/>
        </p:nvSpPr>
        <p:spPr>
          <a:xfrm>
            <a:off x="2761560" y="1353240"/>
            <a:ext cx="2057040" cy="9140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9"/>
          <p:cNvSpPr/>
          <p:nvPr/>
        </p:nvSpPr>
        <p:spPr>
          <a:xfrm>
            <a:off x="2761560" y="1353240"/>
            <a:ext cx="63720" cy="914040"/>
          </a:xfrm>
          <a:prstGeom prst="rect">
            <a:avLst/>
          </a:prstGeom>
          <a:solidFill>
            <a:srgbClr val="ef6a32"/>
          </a:solidFill>
          <a:ln w="12700">
            <a:solidFill>
              <a:srgbClr val="ef6a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0"/>
          <p:cNvSpPr/>
          <p:nvPr/>
        </p:nvSpPr>
        <p:spPr>
          <a:xfrm>
            <a:off x="2962800" y="149040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ef6a32"/>
                </a:solidFill>
                <a:effectLst/>
                <a:uFillTx/>
                <a:latin typeface="Aptos"/>
              </a:rPr>
              <a:t>Saturday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1"/>
          <p:cNvSpPr/>
          <p:nvPr/>
        </p:nvSpPr>
        <p:spPr>
          <a:xfrm>
            <a:off x="2962800" y="1920240"/>
            <a:ext cx="1737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Peak day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2"/>
          <p:cNvSpPr/>
          <p:nvPr/>
        </p:nvSpPr>
        <p:spPr>
          <a:xfrm>
            <a:off x="5020200" y="1353240"/>
            <a:ext cx="2057040" cy="9140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3"/>
          <p:cNvSpPr/>
          <p:nvPr/>
        </p:nvSpPr>
        <p:spPr>
          <a:xfrm>
            <a:off x="5020200" y="1353240"/>
            <a:ext cx="63720" cy="914040"/>
          </a:xfrm>
          <a:prstGeom prst="rect">
            <a:avLst/>
          </a:prstGeom>
          <a:solidFill>
            <a:srgbClr val="162d7a"/>
          </a:solidFill>
          <a:ln w="12700">
            <a:solidFill>
              <a:srgbClr val="162d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4"/>
          <p:cNvSpPr/>
          <p:nvPr/>
        </p:nvSpPr>
        <p:spPr>
          <a:xfrm>
            <a:off x="5221080" y="149040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162d7a"/>
                </a:solidFill>
                <a:effectLst/>
                <a:uFillTx/>
                <a:latin typeface="Aptos"/>
              </a:rPr>
              <a:t>69.5%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5"/>
          <p:cNvSpPr/>
          <p:nvPr/>
        </p:nvSpPr>
        <p:spPr>
          <a:xfrm>
            <a:off x="5221080" y="1920240"/>
            <a:ext cx="1737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Weekday share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6"/>
          <p:cNvSpPr/>
          <p:nvPr/>
        </p:nvSpPr>
        <p:spPr>
          <a:xfrm>
            <a:off x="7278480" y="1353240"/>
            <a:ext cx="2057040" cy="9140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7"/>
          <p:cNvSpPr/>
          <p:nvPr/>
        </p:nvSpPr>
        <p:spPr>
          <a:xfrm>
            <a:off x="7278480" y="1353240"/>
            <a:ext cx="63720" cy="914040"/>
          </a:xfrm>
          <a:prstGeom prst="rect">
            <a:avLst/>
          </a:prstGeom>
          <a:solidFill>
            <a:srgbClr val="138f8e"/>
          </a:solidFill>
          <a:ln w="12700">
            <a:solidFill>
              <a:srgbClr val="138f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8"/>
          <p:cNvSpPr/>
          <p:nvPr/>
        </p:nvSpPr>
        <p:spPr>
          <a:xfrm>
            <a:off x="7479720" y="149040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138f8e"/>
                </a:solidFill>
                <a:effectLst/>
                <a:uFillTx/>
                <a:latin typeface="Aptos"/>
              </a:rPr>
              <a:t>March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9"/>
          <p:cNvSpPr/>
          <p:nvPr/>
        </p:nvSpPr>
        <p:spPr>
          <a:xfrm>
            <a:off x="7479720" y="1920240"/>
            <a:ext cx="1737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Busiest month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0"/>
          <p:cNvSpPr/>
          <p:nvPr/>
        </p:nvSpPr>
        <p:spPr>
          <a:xfrm>
            <a:off x="9537120" y="1353240"/>
            <a:ext cx="2148480" cy="9140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1"/>
          <p:cNvSpPr/>
          <p:nvPr/>
        </p:nvSpPr>
        <p:spPr>
          <a:xfrm>
            <a:off x="9537120" y="1353240"/>
            <a:ext cx="63720" cy="914040"/>
          </a:xfrm>
          <a:prstGeom prst="rect">
            <a:avLst/>
          </a:prstGeom>
          <a:solidFill>
            <a:srgbClr val="720078"/>
          </a:solidFill>
          <a:ln w="12700">
            <a:solidFill>
              <a:srgbClr val="7200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2"/>
          <p:cNvSpPr/>
          <p:nvPr/>
        </p:nvSpPr>
        <p:spPr>
          <a:xfrm>
            <a:off x="9738360" y="149040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720078"/>
                </a:solidFill>
                <a:effectLst/>
                <a:uFillTx/>
                <a:latin typeface="Aptos"/>
              </a:rPr>
              <a:t>11.5 hrs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3"/>
          <p:cNvSpPr/>
          <p:nvPr/>
        </p:nvSpPr>
        <p:spPr>
          <a:xfrm>
            <a:off x="9738360" y="192024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Longest session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Chart 0"/>
          <p:cNvGraphicFramePr/>
          <p:nvPr/>
        </p:nvGraphicFramePr>
        <p:xfrm>
          <a:off x="502920" y="2578680"/>
          <a:ext cx="6949080" cy="331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7" name="Text 24"/>
          <p:cNvSpPr/>
          <p:nvPr/>
        </p:nvSpPr>
        <p:spPr>
          <a:xfrm>
            <a:off x="502920" y="23317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Watch hours by hour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8" name="Chart 1"/>
          <p:cNvGraphicFramePr/>
          <p:nvPr/>
        </p:nvGraphicFramePr>
        <p:xfrm>
          <a:off x="7754040" y="2999160"/>
          <a:ext cx="3931560" cy="2898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9" name="Text 25"/>
          <p:cNvSpPr/>
          <p:nvPr/>
        </p:nvSpPr>
        <p:spPr>
          <a:xfrm>
            <a:off x="7754040" y="233172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Hours by day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6"/>
          <p:cNvSpPr/>
          <p:nvPr/>
        </p:nvSpPr>
        <p:spPr>
          <a:xfrm>
            <a:off x="7754040" y="2633400"/>
            <a:ext cx="2194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Best scheduling window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7"/>
          <p:cNvSpPr/>
          <p:nvPr/>
        </p:nvSpPr>
        <p:spPr>
          <a:xfrm>
            <a:off x="9464040" y="2551320"/>
            <a:ext cx="2221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ef6a32"/>
                </a:solidFill>
                <a:effectLst/>
                <a:uFillTx/>
                <a:latin typeface="Aptos"/>
              </a:rPr>
              <a:t>12:00–18:00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8"/>
          <p:cNvSpPr/>
          <p:nvPr/>
        </p:nvSpPr>
        <p:spPr>
          <a:xfrm>
            <a:off x="502920" y="6519600"/>
            <a:ext cx="78634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Source: Bright TV viewership dashboard  |  10,000 records  |  Jan–Apr 2016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9"/>
          <p:cNvSpPr/>
          <p:nvPr/>
        </p:nvSpPr>
        <p:spPr>
          <a:xfrm>
            <a:off x="10588680" y="6492240"/>
            <a:ext cx="1096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19" strike="noStrike" u="none">
                <a:solidFill>
                  <a:srgbClr val="1294e8"/>
                </a:solidFill>
                <a:effectLst/>
                <a:uFillTx/>
                <a:latin typeface="Aptos"/>
              </a:rPr>
              <a:t>BRIGHT TV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/>
          <p:nvPr/>
        </p:nvSpPr>
        <p:spPr>
          <a:xfrm>
            <a:off x="502920" y="255960"/>
            <a:ext cx="4023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59" strike="noStrike" u="none">
                <a:solidFill>
                  <a:srgbClr val="1294e8"/>
                </a:solidFill>
                <a:effectLst/>
                <a:uFillTx/>
                <a:latin typeface="Aptos"/>
                <a:ea typeface="Aptos"/>
              </a:rPr>
              <a:t>AUDIENCE PROFILE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502920" y="53028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72033"/>
                </a:solidFill>
                <a:effectLst/>
                <a:uFillTx/>
                <a:latin typeface="Aptos Display"/>
                <a:ea typeface="Aptos Display"/>
              </a:rPr>
              <a:t>Young adults in Gauteng are the centre of gravity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"/>
          <p:cNvSpPr/>
          <p:nvPr/>
        </p:nvSpPr>
        <p:spPr>
          <a:xfrm>
            <a:off x="11064240" y="365760"/>
            <a:ext cx="594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05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3"/>
          <p:cNvSpPr/>
          <p:nvPr/>
        </p:nvSpPr>
        <p:spPr>
          <a:xfrm>
            <a:off x="502920" y="1124640"/>
            <a:ext cx="11173680" cy="360"/>
          </a:xfrm>
          <a:prstGeom prst="line">
            <a:avLst/>
          </a:prstGeom>
          <a:ln w="12700">
            <a:solidFill>
              <a:srgbClr val="dde5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4"/>
          <p:cNvSpPr/>
          <p:nvPr/>
        </p:nvSpPr>
        <p:spPr>
          <a:xfrm>
            <a:off x="502920" y="1353240"/>
            <a:ext cx="2057040" cy="9140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5"/>
          <p:cNvSpPr/>
          <p:nvPr/>
        </p:nvSpPr>
        <p:spPr>
          <a:xfrm>
            <a:off x="502920" y="1353240"/>
            <a:ext cx="63720" cy="914040"/>
          </a:xfrm>
          <a:prstGeom prst="rect">
            <a:avLst/>
          </a:prstGeom>
          <a:solidFill>
            <a:srgbClr val="162d7a"/>
          </a:solidFill>
          <a:ln w="12700">
            <a:solidFill>
              <a:srgbClr val="162d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6"/>
          <p:cNvSpPr/>
          <p:nvPr/>
        </p:nvSpPr>
        <p:spPr>
          <a:xfrm>
            <a:off x="704160" y="149040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162d7a"/>
                </a:solidFill>
                <a:effectLst/>
                <a:uFillTx/>
                <a:latin typeface="Aptos"/>
              </a:rPr>
              <a:t>3,723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7"/>
          <p:cNvSpPr/>
          <p:nvPr/>
        </p:nvSpPr>
        <p:spPr>
          <a:xfrm>
            <a:off x="704160" y="1920240"/>
            <a:ext cx="1737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Male viewers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8"/>
          <p:cNvSpPr/>
          <p:nvPr/>
        </p:nvSpPr>
        <p:spPr>
          <a:xfrm>
            <a:off x="2761560" y="1353240"/>
            <a:ext cx="2057040" cy="9140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9"/>
          <p:cNvSpPr/>
          <p:nvPr/>
        </p:nvSpPr>
        <p:spPr>
          <a:xfrm>
            <a:off x="2761560" y="1353240"/>
            <a:ext cx="63720" cy="914040"/>
          </a:xfrm>
          <a:prstGeom prst="rect">
            <a:avLst/>
          </a:prstGeom>
          <a:solidFill>
            <a:srgbClr val="ef6a32"/>
          </a:solidFill>
          <a:ln w="12700">
            <a:solidFill>
              <a:srgbClr val="ef6a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0"/>
          <p:cNvSpPr/>
          <p:nvPr/>
        </p:nvSpPr>
        <p:spPr>
          <a:xfrm>
            <a:off x="2962800" y="149040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ef6a32"/>
                </a:solidFill>
                <a:effectLst/>
                <a:uFillTx/>
                <a:latin typeface="Aptos"/>
              </a:rPr>
              <a:t>488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1"/>
          <p:cNvSpPr/>
          <p:nvPr/>
        </p:nvSpPr>
        <p:spPr>
          <a:xfrm>
            <a:off x="2962800" y="1920240"/>
            <a:ext cx="1737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Female viewers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2"/>
          <p:cNvSpPr/>
          <p:nvPr/>
        </p:nvSpPr>
        <p:spPr>
          <a:xfrm>
            <a:off x="5020200" y="1353240"/>
            <a:ext cx="2057040" cy="9140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3"/>
          <p:cNvSpPr/>
          <p:nvPr/>
        </p:nvSpPr>
        <p:spPr>
          <a:xfrm>
            <a:off x="5020200" y="1353240"/>
            <a:ext cx="63720" cy="914040"/>
          </a:xfrm>
          <a:prstGeom prst="rect">
            <a:avLst/>
          </a:prstGeom>
          <a:solidFill>
            <a:srgbClr val="138f8e"/>
          </a:solidFill>
          <a:ln w="12700">
            <a:solidFill>
              <a:srgbClr val="138f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4"/>
          <p:cNvSpPr/>
          <p:nvPr/>
        </p:nvSpPr>
        <p:spPr>
          <a:xfrm>
            <a:off x="5221080" y="149040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138f8e"/>
                </a:solidFill>
                <a:effectLst/>
                <a:uFillTx/>
                <a:latin typeface="Aptos"/>
              </a:rPr>
              <a:t>Gauteng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5"/>
          <p:cNvSpPr/>
          <p:nvPr/>
        </p:nvSpPr>
        <p:spPr>
          <a:xfrm>
            <a:off x="5221080" y="1920240"/>
            <a:ext cx="1737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Top region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6"/>
          <p:cNvSpPr/>
          <p:nvPr/>
        </p:nvSpPr>
        <p:spPr>
          <a:xfrm>
            <a:off x="7278480" y="1353240"/>
            <a:ext cx="2057040" cy="9140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7"/>
          <p:cNvSpPr/>
          <p:nvPr/>
        </p:nvSpPr>
        <p:spPr>
          <a:xfrm>
            <a:off x="7278480" y="1353240"/>
            <a:ext cx="63720" cy="914040"/>
          </a:xfrm>
          <a:prstGeom prst="rect">
            <a:avLst/>
          </a:prstGeom>
          <a:solidFill>
            <a:srgbClr val="1294e8"/>
          </a:solidFill>
          <a:ln w="12700">
            <a:solidFill>
              <a:srgbClr val="1294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8"/>
          <p:cNvSpPr/>
          <p:nvPr/>
        </p:nvSpPr>
        <p:spPr>
          <a:xfrm>
            <a:off x="7479720" y="149040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1294e8"/>
                </a:solidFill>
                <a:effectLst/>
                <a:uFillTx/>
                <a:latin typeface="Aptos"/>
              </a:rPr>
              <a:t>Young adults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9"/>
          <p:cNvSpPr/>
          <p:nvPr/>
        </p:nvSpPr>
        <p:spPr>
          <a:xfrm>
            <a:off x="7479720" y="1920240"/>
            <a:ext cx="1737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Top age group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0"/>
          <p:cNvSpPr/>
          <p:nvPr/>
        </p:nvSpPr>
        <p:spPr>
          <a:xfrm>
            <a:off x="9537120" y="1353240"/>
            <a:ext cx="2148480" cy="9140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1"/>
          <p:cNvSpPr/>
          <p:nvPr/>
        </p:nvSpPr>
        <p:spPr>
          <a:xfrm>
            <a:off x="9537120" y="1353240"/>
            <a:ext cx="63720" cy="914040"/>
          </a:xfrm>
          <a:prstGeom prst="rect">
            <a:avLst/>
          </a:prstGeom>
          <a:solidFill>
            <a:srgbClr val="e4be00"/>
          </a:solidFill>
          <a:ln w="12700">
            <a:solidFill>
              <a:srgbClr val="e4b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2"/>
          <p:cNvSpPr/>
          <p:nvPr/>
        </p:nvSpPr>
        <p:spPr>
          <a:xfrm>
            <a:off x="9738360" y="149040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e4be00"/>
                </a:solidFill>
                <a:effectLst/>
                <a:uFillTx/>
                <a:latin typeface="Aptos"/>
              </a:rPr>
              <a:t>100%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3"/>
          <p:cNvSpPr/>
          <p:nvPr/>
        </p:nvSpPr>
        <p:spPr>
          <a:xfrm>
            <a:off x="9738360" y="192024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Email opt-in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8" name="Chart 0"/>
          <p:cNvGraphicFramePr/>
          <p:nvPr/>
        </p:nvGraphicFramePr>
        <p:xfrm>
          <a:off x="502920" y="2670120"/>
          <a:ext cx="5074560" cy="336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9" name="Text 24"/>
          <p:cNvSpPr/>
          <p:nvPr/>
        </p:nvSpPr>
        <p:spPr>
          <a:xfrm>
            <a:off x="502920" y="23407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Watch hours by region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0" name="Chart 1"/>
          <p:cNvGraphicFramePr/>
          <p:nvPr/>
        </p:nvGraphicFramePr>
        <p:xfrm>
          <a:off x="5925240" y="2670120"/>
          <a:ext cx="5760360" cy="336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1" name="Text 25"/>
          <p:cNvSpPr/>
          <p:nvPr/>
        </p:nvSpPr>
        <p:spPr>
          <a:xfrm>
            <a:off x="5925240" y="234072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Average session minutes by age group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6"/>
          <p:cNvSpPr/>
          <p:nvPr/>
        </p:nvSpPr>
        <p:spPr>
          <a:xfrm>
            <a:off x="502920" y="6519600"/>
            <a:ext cx="78634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Source: Bright TV viewership dashboard  |  10,000 records  |  Jan–Apr 2016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7"/>
          <p:cNvSpPr/>
          <p:nvPr/>
        </p:nvSpPr>
        <p:spPr>
          <a:xfrm>
            <a:off x="10588680" y="6492240"/>
            <a:ext cx="1096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19" strike="noStrike" u="none">
                <a:solidFill>
                  <a:srgbClr val="1294e8"/>
                </a:solidFill>
                <a:effectLst/>
                <a:uFillTx/>
                <a:latin typeface="Aptos"/>
              </a:rPr>
              <a:t>BRIGHT TV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502920" y="255960"/>
            <a:ext cx="4023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59" strike="noStrike" u="none">
                <a:solidFill>
                  <a:srgbClr val="1294e8"/>
                </a:solidFill>
                <a:effectLst/>
                <a:uFillTx/>
                <a:latin typeface="Aptos"/>
                <a:ea typeface="Aptos"/>
              </a:rPr>
              <a:t>ENGAGEMENT QUALITY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502920" y="53028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72033"/>
                </a:solidFill>
                <a:effectLst/>
                <a:uFillTx/>
                <a:latin typeface="Aptos Display"/>
                <a:ea typeface="Aptos Display"/>
              </a:rPr>
              <a:t>Most logged sessions do not become meaningful viewing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"/>
          <p:cNvSpPr/>
          <p:nvPr/>
        </p:nvSpPr>
        <p:spPr>
          <a:xfrm>
            <a:off x="11064240" y="365760"/>
            <a:ext cx="594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06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3"/>
          <p:cNvSpPr/>
          <p:nvPr/>
        </p:nvSpPr>
        <p:spPr>
          <a:xfrm>
            <a:off x="502920" y="1124640"/>
            <a:ext cx="11173680" cy="360"/>
          </a:xfrm>
          <a:prstGeom prst="line">
            <a:avLst/>
          </a:prstGeom>
          <a:ln w="12700">
            <a:solidFill>
              <a:srgbClr val="dde5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8" name="Chart 0"/>
          <p:cNvGraphicFramePr/>
          <p:nvPr/>
        </p:nvGraphicFramePr>
        <p:xfrm>
          <a:off x="530280" y="1353240"/>
          <a:ext cx="4891680" cy="434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49" name="Text 4"/>
          <p:cNvSpPr/>
          <p:nvPr/>
        </p:nvSpPr>
        <p:spPr>
          <a:xfrm>
            <a:off x="1856160" y="288036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trike="noStrike" u="none">
                <a:solidFill>
                  <a:srgbClr val="720078"/>
                </a:solidFill>
                <a:effectLst/>
                <a:uFillTx/>
                <a:latin typeface="Aptos"/>
              </a:rPr>
              <a:t>69.2%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5"/>
          <p:cNvSpPr/>
          <p:nvPr/>
        </p:nvSpPr>
        <p:spPr>
          <a:xfrm>
            <a:off x="1993320" y="338328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NO USAGE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6"/>
          <p:cNvSpPr/>
          <p:nvPr/>
        </p:nvSpPr>
        <p:spPr>
          <a:xfrm>
            <a:off x="5806440" y="1353240"/>
            <a:ext cx="5879160" cy="123408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5989320" y="1517760"/>
            <a:ext cx="50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720078"/>
                </a:solidFill>
                <a:effectLst/>
                <a:uFillTx/>
                <a:latin typeface="Aptos"/>
              </a:rPr>
              <a:t>01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8"/>
          <p:cNvSpPr/>
          <p:nvPr/>
        </p:nvSpPr>
        <p:spPr>
          <a:xfrm>
            <a:off x="6574680" y="153612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Fix measurement first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9"/>
          <p:cNvSpPr/>
          <p:nvPr/>
        </p:nvSpPr>
        <p:spPr>
          <a:xfrm>
            <a:off x="6574680" y="1883520"/>
            <a:ext cx="48916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Investigate zero-duration sessions and confirm whether they are true bounces, tracking gaps or aborted starts.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0"/>
          <p:cNvSpPr/>
          <p:nvPr/>
        </p:nvSpPr>
        <p:spPr>
          <a:xfrm>
            <a:off x="5806440" y="2797920"/>
            <a:ext cx="5879160" cy="123408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1"/>
          <p:cNvSpPr/>
          <p:nvPr/>
        </p:nvSpPr>
        <p:spPr>
          <a:xfrm>
            <a:off x="5989320" y="2962800"/>
            <a:ext cx="50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294e8"/>
                </a:solidFill>
                <a:effectLst/>
                <a:uFillTx/>
                <a:latin typeface="Aptos"/>
              </a:rPr>
              <a:t>02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2"/>
          <p:cNvSpPr/>
          <p:nvPr/>
        </p:nvSpPr>
        <p:spPr>
          <a:xfrm>
            <a:off x="6574680" y="298080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Create a first-10-minute path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3"/>
          <p:cNvSpPr/>
          <p:nvPr/>
        </p:nvSpPr>
        <p:spPr>
          <a:xfrm>
            <a:off x="6574680" y="3328560"/>
            <a:ext cx="48916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Use strong previews and immediate programme continuity to move low-usage sessions into engaged viewing.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4"/>
          <p:cNvSpPr/>
          <p:nvPr/>
        </p:nvSpPr>
        <p:spPr>
          <a:xfrm>
            <a:off x="5806440" y="4242960"/>
            <a:ext cx="5879160" cy="123408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a"/>
            </a:solidFill>
            <a:round/>
          </a:ln>
          <a:effectLst>
            <a:outerShdw algn="bl" blurRad="38160" dir="2700000" dist="5040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5"/>
          <p:cNvSpPr/>
          <p:nvPr/>
        </p:nvSpPr>
        <p:spPr>
          <a:xfrm>
            <a:off x="5989320" y="4407480"/>
            <a:ext cx="50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ef6a32"/>
                </a:solidFill>
                <a:effectLst/>
                <a:uFillTx/>
                <a:latin typeface="Aptos"/>
              </a:rPr>
              <a:t>03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6"/>
          <p:cNvSpPr/>
          <p:nvPr/>
        </p:nvSpPr>
        <p:spPr>
          <a:xfrm>
            <a:off x="6574680" y="442584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Retarget known viewers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7"/>
          <p:cNvSpPr/>
          <p:nvPr/>
        </p:nvSpPr>
        <p:spPr>
          <a:xfrm>
            <a:off x="6574680" y="4773240"/>
            <a:ext cx="48916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The reported 100% email opt-in creates a direct route for programme reminders and event follow-ups.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8"/>
          <p:cNvSpPr/>
          <p:nvPr/>
        </p:nvSpPr>
        <p:spPr>
          <a:xfrm>
            <a:off x="5806440" y="5760720"/>
            <a:ext cx="5879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Success measure: reduce no-usage share while lifting average session length above 10 minutes.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9"/>
          <p:cNvSpPr/>
          <p:nvPr/>
        </p:nvSpPr>
        <p:spPr>
          <a:xfrm>
            <a:off x="502920" y="6519600"/>
            <a:ext cx="78634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Source: Bright TV viewership dashboard  |  10,000 records  |  Jan–Apr 2016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0"/>
          <p:cNvSpPr/>
          <p:nvPr/>
        </p:nvSpPr>
        <p:spPr>
          <a:xfrm>
            <a:off x="10588680" y="6492240"/>
            <a:ext cx="1096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19" strike="noStrike" u="none">
                <a:solidFill>
                  <a:srgbClr val="1294e8"/>
                </a:solidFill>
                <a:effectLst/>
                <a:uFillTx/>
                <a:latin typeface="Aptos"/>
              </a:rPr>
              <a:t>BRIGHT TV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502920" y="255960"/>
            <a:ext cx="4023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59" strike="noStrike" u="none">
                <a:solidFill>
                  <a:srgbClr val="8fd3ff"/>
                </a:solidFill>
                <a:effectLst/>
                <a:uFillTx/>
                <a:latin typeface="Aptos"/>
                <a:ea typeface="Aptos"/>
              </a:rPr>
              <a:t>RECOMMENDED ACTIONS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502920" y="53028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Three moves to turn peaks into a repeat-viewing habit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"/>
          <p:cNvSpPr/>
          <p:nvPr/>
        </p:nvSpPr>
        <p:spPr>
          <a:xfrm>
            <a:off x="11064240" y="365760"/>
            <a:ext cx="594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a8b3c7"/>
                </a:solidFill>
                <a:effectLst/>
                <a:uFillTx/>
                <a:latin typeface="Aptos"/>
              </a:rPr>
              <a:t>07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3"/>
          <p:cNvSpPr/>
          <p:nvPr/>
        </p:nvSpPr>
        <p:spPr>
          <a:xfrm>
            <a:off x="502920" y="1124640"/>
            <a:ext cx="11173680" cy="360"/>
          </a:xfrm>
          <a:prstGeom prst="line">
            <a:avLst/>
          </a:prstGeom>
          <a:ln w="12700">
            <a:solidFill>
              <a:srgbClr val="3450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594360" y="160920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9" strike="noStrike" u="none">
                <a:solidFill>
                  <a:srgbClr val="720078"/>
                </a:solidFill>
                <a:effectLst/>
                <a:uFillTx/>
                <a:latin typeface="Aptos"/>
              </a:rPr>
              <a:t>NOW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1508760" y="15544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Validate the signal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6"/>
          <p:cNvSpPr/>
          <p:nvPr/>
        </p:nvSpPr>
        <p:spPr>
          <a:xfrm>
            <a:off x="4389120" y="1536120"/>
            <a:ext cx="4800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c6d0de"/>
                </a:solidFill>
                <a:effectLst/>
                <a:uFillTx/>
                <a:latin typeface="Aptos"/>
              </a:rPr>
              <a:t>Audit the 860 zero-duration sessions and define one trusted engagement measure.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7"/>
          <p:cNvSpPr/>
          <p:nvPr/>
        </p:nvSpPr>
        <p:spPr>
          <a:xfrm>
            <a:off x="9509760" y="1563480"/>
            <a:ext cx="1051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Measurement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8"/>
          <p:cNvSpPr/>
          <p:nvPr/>
        </p:nvSpPr>
        <p:spPr>
          <a:xfrm>
            <a:off x="10579680" y="1563480"/>
            <a:ext cx="987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a8b3c7"/>
                </a:solidFill>
                <a:effectLst/>
                <a:uFillTx/>
                <a:latin typeface="Aptos"/>
              </a:rPr>
              <a:t>0–30 days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9"/>
          <p:cNvSpPr/>
          <p:nvPr/>
        </p:nvSpPr>
        <p:spPr>
          <a:xfrm>
            <a:off x="594360" y="2404800"/>
            <a:ext cx="10972800" cy="360"/>
          </a:xfrm>
          <a:prstGeom prst="line">
            <a:avLst/>
          </a:prstGeom>
          <a:ln w="12700">
            <a:solidFill>
              <a:srgbClr val="3450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0"/>
          <p:cNvSpPr/>
          <p:nvPr/>
        </p:nvSpPr>
        <p:spPr>
          <a:xfrm>
            <a:off x="594360" y="302652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9" strike="noStrike" u="none">
                <a:solidFill>
                  <a:srgbClr val="1294e8"/>
                </a:solidFill>
                <a:effectLst/>
                <a:uFillTx/>
                <a:latin typeface="Aptos"/>
              </a:rPr>
              <a:t>NEXT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1"/>
          <p:cNvSpPr/>
          <p:nvPr/>
        </p:nvSpPr>
        <p:spPr>
          <a:xfrm>
            <a:off x="1508760" y="29718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Own the 12:00–18:00 window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2"/>
          <p:cNvSpPr/>
          <p:nvPr/>
        </p:nvSpPr>
        <p:spPr>
          <a:xfrm>
            <a:off x="4389120" y="2953440"/>
            <a:ext cx="4800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c6d0de"/>
                </a:solidFill>
                <a:effectLst/>
                <a:uFillTx/>
                <a:latin typeface="Aptos"/>
              </a:rPr>
              <a:t>Concentrate premieres, reminders and cross-promotion around the daily growth window.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3"/>
          <p:cNvSpPr/>
          <p:nvPr/>
        </p:nvSpPr>
        <p:spPr>
          <a:xfrm>
            <a:off x="9509760" y="2980800"/>
            <a:ext cx="1051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Programming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4"/>
          <p:cNvSpPr/>
          <p:nvPr/>
        </p:nvSpPr>
        <p:spPr>
          <a:xfrm>
            <a:off x="10579680" y="2980800"/>
            <a:ext cx="987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a8b3c7"/>
                </a:solidFill>
                <a:effectLst/>
                <a:uFillTx/>
                <a:latin typeface="Aptos"/>
              </a:rPr>
              <a:t>30–60 days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5"/>
          <p:cNvSpPr/>
          <p:nvPr/>
        </p:nvSpPr>
        <p:spPr>
          <a:xfrm>
            <a:off x="594360" y="3822120"/>
            <a:ext cx="10972800" cy="360"/>
          </a:xfrm>
          <a:prstGeom prst="line">
            <a:avLst/>
          </a:prstGeom>
          <a:ln w="12700">
            <a:solidFill>
              <a:srgbClr val="3450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6"/>
          <p:cNvSpPr/>
          <p:nvPr/>
        </p:nvSpPr>
        <p:spPr>
          <a:xfrm>
            <a:off x="594360" y="444384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9" strike="noStrike" u="none">
                <a:solidFill>
                  <a:srgbClr val="ef6a32"/>
                </a:solidFill>
                <a:effectLst/>
                <a:uFillTx/>
                <a:latin typeface="Aptos"/>
              </a:rPr>
              <a:t>SCALE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7"/>
          <p:cNvSpPr/>
          <p:nvPr/>
        </p:nvSpPr>
        <p:spPr>
          <a:xfrm>
            <a:off x="1508760" y="438912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Convert event audiences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8"/>
          <p:cNvSpPr/>
          <p:nvPr/>
        </p:nvSpPr>
        <p:spPr>
          <a:xfrm>
            <a:off x="4389120" y="4370760"/>
            <a:ext cx="4800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c6d0de"/>
                </a:solidFill>
                <a:effectLst/>
                <a:uFillTx/>
                <a:latin typeface="Aptos"/>
              </a:rPr>
              <a:t>Capture cricket and live-event viewers, then route them toward music and entertainment.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9"/>
          <p:cNvSpPr/>
          <p:nvPr/>
        </p:nvSpPr>
        <p:spPr>
          <a:xfrm>
            <a:off x="9509760" y="4398120"/>
            <a:ext cx="1051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Retention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0"/>
          <p:cNvSpPr/>
          <p:nvPr/>
        </p:nvSpPr>
        <p:spPr>
          <a:xfrm>
            <a:off x="10579680" y="4398120"/>
            <a:ext cx="987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a8b3c7"/>
                </a:solidFill>
                <a:effectLst/>
                <a:uFillTx/>
                <a:latin typeface="Aptos"/>
              </a:rPr>
              <a:t>60–90 days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21"/>
          <p:cNvSpPr/>
          <p:nvPr/>
        </p:nvSpPr>
        <p:spPr>
          <a:xfrm>
            <a:off x="594360" y="5239440"/>
            <a:ext cx="10972800" cy="360"/>
          </a:xfrm>
          <a:prstGeom prst="line">
            <a:avLst/>
          </a:prstGeom>
          <a:ln w="12700">
            <a:solidFill>
              <a:srgbClr val="3450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2"/>
          <p:cNvSpPr/>
          <p:nvPr/>
        </p:nvSpPr>
        <p:spPr>
          <a:xfrm>
            <a:off x="594360" y="5806440"/>
            <a:ext cx="10972440" cy="392760"/>
          </a:xfrm>
          <a:prstGeom prst="rect">
            <a:avLst/>
          </a:prstGeom>
          <a:solidFill>
            <a:srgbClr val="1294e8">
              <a:alpha val="92000"/>
            </a:srgbClr>
          </a:solidFill>
          <a:ln w="12700">
            <a:solidFill>
              <a:srgbClr val="1294e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3"/>
          <p:cNvSpPr/>
          <p:nvPr/>
        </p:nvSpPr>
        <p:spPr>
          <a:xfrm>
            <a:off x="804600" y="5906880"/>
            <a:ext cx="1508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9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North-star outcome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4"/>
          <p:cNvSpPr/>
          <p:nvPr/>
        </p:nvSpPr>
        <p:spPr>
          <a:xfrm>
            <a:off x="2468880" y="5861160"/>
            <a:ext cx="7863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More active sessions. Longer viewing. Stronger repeat behaviour.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5"/>
          <p:cNvSpPr/>
          <p:nvPr/>
        </p:nvSpPr>
        <p:spPr>
          <a:xfrm>
            <a:off x="502920" y="6519600"/>
            <a:ext cx="78634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8a9ab0"/>
                </a:solidFill>
                <a:effectLst/>
                <a:uFillTx/>
                <a:latin typeface="Aptos"/>
              </a:rPr>
              <a:t>Source: Bright TV viewership dashboard  |  10,000 records  |  Jan–Apr 2016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6"/>
          <p:cNvSpPr/>
          <p:nvPr/>
        </p:nvSpPr>
        <p:spPr>
          <a:xfrm>
            <a:off x="10588680" y="6492240"/>
            <a:ext cx="1096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19" strike="noStrike" u="none">
                <a:solidFill>
                  <a:srgbClr val="8fd3ff"/>
                </a:solidFill>
                <a:effectLst/>
                <a:uFillTx/>
                <a:latin typeface="Aptos"/>
              </a:rPr>
              <a:t>BRIGHT TV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LibreOffice/25.2.6.2$Linux_X86_64 LibreOffice_project/520$Build-2</Application>
  <AppVersion>15.0000</AppVersion>
  <Words>0</Words>
  <Paragraphs>0</Paragraphs>
  <Company>Bright TV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2026-10-01T03:13:18Z</dcterms:created>
  <dc:creator>Elias Makgalwa</dc:creator>
  <dc:description/>
  <dc:language>en-US</dc:language>
  <cp:lastModifiedBy>Elias Makgalwa</cp:lastModifiedBy>
  <dcterms:modified xsi:type="dcterms:W3CDTF">2026-10-01T03:13:18Z</dcterms:modified>
  <cp:revision>1</cp:revision>
  <dc:subject>TV viewership analysis</dc:subject>
  <dc:title>Bright TV Viewership Analysis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7</vt:r8>
  </property>
  <property fmtid="{D5CDD505-2E9C-101B-9397-08002B2CF9AE}" pid="3" name="PresentationFormat">
    <vt:lpwstr>On-screen Show (16:9)</vt:lpwstr>
  </property>
  <property fmtid="{D5CDD505-2E9C-101B-9397-08002B2CF9AE}" pid="4" name="Slides">
    <vt:r8>7</vt:r8>
  </property>
</Properties>
</file>